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22B4A-B37C-A8C1-8911-2B0EE4764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7268AE-E2E3-5F12-EC16-B19D32873F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878F9-6ACA-5559-1573-D17492B8F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A01AC-43CD-350D-CD2B-BCEB70C2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25264-6AF1-F859-9865-6E7714B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65033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54BA-53D4-7A3C-91C4-655D17BE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865EE-0B59-7CB1-00A3-6DB838045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93507-6E3A-CA2D-F3A0-4385693F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74A9-22E4-F1BD-3F2C-AC5D0CB64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ED049-4E20-E5DF-3C27-41908203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51427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D618E-3C67-32A1-3980-DBE44BC65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CFED5-91A7-D5D4-D7A8-7D14955FE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6847A-0013-E476-1BC2-C0DABB7C2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441FE2-1C10-5C32-AB4E-5DF15DFC4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E3E20-AC9A-480B-BF1E-064666E68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646935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71F41-A49C-B3B7-7095-5A21CD65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677A3-278C-89DB-03B0-F734D6E92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5DFA3-BFF4-6A28-EEFC-F563176A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507479-3A27-B920-CBC4-F4721C2D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C4488-F0D2-09B2-2195-74EBA0147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249A5-1B68-6766-30FB-FCEE43D4B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96541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B2D3E-F1CC-0D3D-2020-E9BADFEA8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64C6E-7CF6-0BCF-1BAE-311A5F88B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FC3C45-7CDD-9CC6-2B42-EA72D0F3A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0D0FC-CC69-5135-EE4A-E327B40C6B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F4F557-0EFD-234A-C668-0E02299C8F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63C8A-332E-479D-F89E-66AB916A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DB62A-1102-3253-797A-13D407889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D32C45-5F45-0CA7-F559-E39B8AE1B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98320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5453-8094-EE0C-2AF3-26A737E7E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6FB8F6-1D49-EDBF-AFCC-B69442E9E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57316-115E-40A8-04E7-8559CCA66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55B8C7-8D9D-2EAD-8414-6160FB4B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83410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651BC-C98E-BC28-5505-C9C2000D7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87AE6-BA9F-1460-9FD6-4BA9DD6B1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83DCF-8A2A-2602-CCE5-052447A7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88722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9D39E-96F7-5124-551E-3F776C2F1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77FFB-E38D-5420-2F42-055E249D8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A578F3-F8F9-6AFA-C5CF-F196531540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3778-492D-9107-F758-83A2752BB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6E73-E501-D490-6404-58ADCA35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EECDB-F4AD-EE58-70BB-AD93FB193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7945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06774-2590-752A-B2B1-752478FA3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6815BF-483A-F49E-EA4D-B3AD2801D3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AB33A-151F-6B2A-30C5-5848D9CA2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6290F-BE17-9895-ECAB-2BD196DA7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480EE9-975F-F485-7E21-5D96E37B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F7106B-F8A0-A682-2DA9-5DD0CC986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04997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622E7-E227-F6F6-E9DC-AD5CC853B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7B46B-F259-03C0-DEB5-C0E9CD450D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54119-7C24-3B91-81EF-346364CEF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1994C-9389-A571-E069-95259E80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B93D0-1AE1-E363-28E6-B7FD309DC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73030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F97A7F-C0FA-F2C1-C90C-4C0EB4EA6F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80834A-E118-BEA0-18A7-D5FB7E4AA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486FE-661F-467E-2F48-FAC92F6D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91991-9A3F-CBD1-5460-3C038639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3E929-0D18-55FA-5FAD-EB695A9C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17689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B8FEBB-F352-6858-CCEA-FE6AB3116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12C2A-DEEE-AC2C-4666-6DAAE41A2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4411E-3197-65D8-7DE6-650ED2DE71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A20609-F74F-49ED-B263-7189F572A603}" type="datetimeFigureOut">
              <a:rPr lang="en-001" smtClean="0"/>
              <a:t>29/10/2025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D325-7F28-0D4B-4E82-203B881F73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6C813-DFC4-36D9-35BF-F1DD262C9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9BEF6-A909-43E4-BF80-4F9ADBEA2FE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24858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4BFD6-4320-4DBA-E3B4-34472A836D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Diferencijalna</a:t>
            </a:r>
            <a:r>
              <a:rPr lang="en-US" dirty="0"/>
              <a:t> </a:t>
            </a:r>
            <a:r>
              <a:rPr lang="en-US" dirty="0" err="1"/>
              <a:t>evolucija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712B1F-8EA5-E3FC-4BC5-38E863C29B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Milo</a:t>
            </a:r>
            <a:r>
              <a:rPr lang="sr-Latn-RS" dirty="0"/>
              <a:t>š Đurić 191/2018</a:t>
            </a:r>
          </a:p>
          <a:p>
            <a:r>
              <a:rPr lang="sr-Latn-RS" dirty="0"/>
              <a:t>Matematički fakultet – Univerzitet u Beogradu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011096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728E-8C90-74FF-F4F6-7BD29F935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Uvod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83493-F33D-3199-356C-72F2D6616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0777" cy="4351338"/>
          </a:xfrm>
        </p:spPr>
        <p:txBody>
          <a:bodyPr/>
          <a:lstStyle/>
          <a:p>
            <a:r>
              <a:rPr lang="sr-Latn-RS" dirty="0"/>
              <a:t>Populaciona </a:t>
            </a:r>
            <a:r>
              <a:rPr lang="sr-Latn-RS" dirty="0" err="1"/>
              <a:t>metaheuristika</a:t>
            </a:r>
            <a:endParaRPr lang="sr-Latn-RS" dirty="0"/>
          </a:p>
          <a:p>
            <a:r>
              <a:rPr lang="sr-Latn-RS" dirty="0"/>
              <a:t>Objavljena 1995.</a:t>
            </a:r>
          </a:p>
          <a:p>
            <a:r>
              <a:rPr lang="sr-Latn-RS" dirty="0"/>
              <a:t>Koristi se za kontinualnu optimizaciju</a:t>
            </a:r>
          </a:p>
          <a:p>
            <a:r>
              <a:rPr lang="sr-Latn-RS" dirty="0"/>
              <a:t>Ne pretpostavlja </a:t>
            </a:r>
            <a:r>
              <a:rPr lang="sr-Latn-RS" dirty="0" err="1"/>
              <a:t>diferencijabilnost</a:t>
            </a:r>
            <a:r>
              <a:rPr lang="sr-Latn-RS" dirty="0"/>
              <a:t>, ni neprekidnost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BDC434-F9B1-DB93-0CAB-9CA245F482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8977" y="1825625"/>
            <a:ext cx="58017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574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73935-366D-9354-468D-CA8F46885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Algoritam</a:t>
            </a:r>
            <a:endParaRPr lang="en-00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188EAB9-899E-FE6E-A87B-C2392F88B0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Inicijalizacija</a:t>
            </a:r>
            <a:r>
              <a:rPr lang="en-US" dirty="0"/>
              <a:t>: </a:t>
            </a:r>
            <a:r>
              <a:rPr lang="sr-Latn-RS" dirty="0"/>
              <a:t>Generisati populaciju od N jedinki</a:t>
            </a:r>
          </a:p>
          <a:p>
            <a:r>
              <a:rPr lang="sr-Latn-RS" dirty="0"/>
              <a:t>Evaluacija: Oceniti svaku jedinku u populaciji</a:t>
            </a:r>
          </a:p>
          <a:p>
            <a:r>
              <a:rPr lang="sr-Latn-RS" dirty="0"/>
              <a:t>Dok nije ispunjen uslov zaustavljanja ponavljaj</a:t>
            </a:r>
          </a:p>
          <a:p>
            <a:pPr lvl="1"/>
            <a:r>
              <a:rPr lang="sr-Latn-RS" dirty="0"/>
              <a:t>Selekcija: Izabrati jedinke iz populacije koje će dati nove jedinke</a:t>
            </a:r>
          </a:p>
          <a:p>
            <a:pPr lvl="1"/>
            <a:r>
              <a:rPr lang="sr-Latn-RS" dirty="0"/>
              <a:t>Varijacija: Primeniti operatore varijacije i napraviti nove jedinke</a:t>
            </a:r>
          </a:p>
          <a:p>
            <a:pPr lvl="1"/>
            <a:r>
              <a:rPr lang="sr-Latn-RS" dirty="0"/>
              <a:t>Evaluacija: Oceniti jedinke u novoj populaciji</a:t>
            </a:r>
          </a:p>
          <a:p>
            <a:pPr lvl="1"/>
            <a:r>
              <a:rPr lang="sr-Latn-RS" dirty="0"/>
              <a:t>Preživljavanje: Izabrati jedinke iz nove i tekuće populacije</a:t>
            </a:r>
            <a:br>
              <a:rPr lang="sr-Latn-RS" dirty="0"/>
            </a:br>
            <a:r>
              <a:rPr lang="sr-Latn-RS" dirty="0"/>
              <a:t>i formirati novu generaciju </a:t>
            </a:r>
          </a:p>
          <a:p>
            <a:r>
              <a:rPr lang="sr-Latn-RS" dirty="0"/>
              <a:t>Kraj rada </a:t>
            </a:r>
            <a:r>
              <a:rPr lang="sr-Latn-RS" dirty="0" err="1"/>
              <a:t>algortma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010798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C1C1-6FD9-691E-17E7-1D4F78F4B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Konstrukcija jedinke i izbor parametara</a:t>
            </a:r>
            <a:endParaRPr lang="en-00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A5D1F5-2A37-F14E-C703-01C4327C4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sr-Latn-RS" dirty="0"/>
                  <a:t>Prvobitna verzija diferencijalne evolucije je za slučajne a, b i c generisala nove </a:t>
                </a:r>
                <a:r>
                  <a:rPr lang="sr-Latn-RS" dirty="0" err="1"/>
                  <a:t>nove</a:t>
                </a:r>
                <a:r>
                  <a:rPr lang="sr-Latn-RS" dirty="0"/>
                  <a:t> jedinke prema formuli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i="1"/>
                        <m:t>𝑧</m:t>
                      </m:r>
                      <m:r>
                        <a:rPr lang="sr-Latn-RS" i="1"/>
                        <m:t>=</m:t>
                      </m:r>
                      <m:r>
                        <a:rPr lang="sr-Latn-RS" i="1"/>
                        <m:t>𝑎</m:t>
                      </m:r>
                      <m:r>
                        <a:rPr lang="sr-Latn-RS" i="1"/>
                        <m:t>+ </m:t>
                      </m:r>
                      <m:r>
                        <a:rPr lang="sr-Latn-RS" i="1"/>
                        <m:t>𝜔</m:t>
                      </m:r>
                      <m:r>
                        <a:rPr lang="sr-Latn-RS" i="1"/>
                        <m:t>∙</m:t>
                      </m:r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sr-Latn-RS" i="1"/>
                            <m:t>𝑏</m:t>
                          </m:r>
                          <m:r>
                            <a:rPr lang="sr-Latn-RS" i="1"/>
                            <m:t>−</m:t>
                          </m:r>
                          <m:r>
                            <a:rPr lang="sr-Latn-RS" i="1"/>
                            <m:t>𝑐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Varija</a:t>
                </a:r>
                <a:r>
                  <a:rPr lang="sr-Latn-RS" dirty="0" err="1"/>
                  <a:t>cija</a:t>
                </a:r>
                <a:r>
                  <a:rPr lang="sr-Latn-RS" dirty="0"/>
                  <a:t> između nove jedinke x i stare jedinke z je vršena po hromozomima, gde je j </a:t>
                </a:r>
                <a:r>
                  <a:rPr lang="sr-Latn-RS" dirty="0" err="1"/>
                  <a:t>sučajan</a:t>
                </a:r>
                <a:r>
                  <a:rPr lang="sr-Latn-RS" dirty="0"/>
                  <a:t> </a:t>
                </a:r>
                <a:r>
                  <a:rPr lang="sr-Latn-RS" dirty="0" err="1"/>
                  <a:t>index</a:t>
                </a:r>
                <a:r>
                  <a:rPr lang="sr-Latn-RS" dirty="0"/>
                  <a:t>, a r slučajna vrednost (0, 1)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001" i="1"/>
                          </m:ctrlPr>
                        </m:sSubPr>
                        <m:e>
                          <m:r>
                            <a:rPr lang="sr-Latn-RS" i="1"/>
                            <m:t>𝑥</m:t>
                          </m:r>
                          <m:r>
                            <a:rPr lang="sr-Latn-RS" i="1"/>
                            <m:t>′</m:t>
                          </m:r>
                        </m:e>
                        <m:sub>
                          <m:r>
                            <a:rPr lang="sr-Latn-RS" i="1"/>
                            <m:t>𝑖</m:t>
                          </m:r>
                        </m:sub>
                      </m:sSub>
                      <m:r>
                        <a:rPr lang="sr-Latn-RS" i="1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001" i="1"/>
                          </m:ctrlPr>
                        </m:dPr>
                        <m:e>
                          <m:eqArr>
                            <m:eqArrPr>
                              <m:ctrlPr>
                                <a:rPr lang="en-001" i="1"/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001" i="1"/>
                                  </m:ctrlPr>
                                </m:sSubPr>
                                <m:e>
                                  <m:r>
                                    <a:rPr lang="sr-Latn-RS" i="1"/>
                                    <m:t>𝑧</m:t>
                                  </m:r>
                                </m:e>
                                <m:sub>
                                  <m:r>
                                    <a:rPr lang="sr-Latn-RS" i="1"/>
                                    <m:t>𝑖</m:t>
                                  </m:r>
                                </m:sub>
                              </m:sSub>
                              <m:r>
                                <a:rPr lang="sr-Latn-RS" i="1"/>
                                <m:t>, </m:t>
                              </m:r>
                              <m:r>
                                <a:rPr lang="sr-Latn-RS" i="1"/>
                                <m:t>𝑎𝑘𝑜</m:t>
                              </m:r>
                              <m:r>
                                <a:rPr lang="sr-Latn-RS" i="1"/>
                                <m:t> </m:t>
                              </m:r>
                              <m:r>
                                <a:rPr lang="sr-Latn-RS" i="1"/>
                                <m:t>𝑖</m:t>
                              </m:r>
                              <m:r>
                                <a:rPr lang="sr-Latn-RS" i="1"/>
                                <m:t>=</m:t>
                              </m:r>
                              <m:r>
                                <a:rPr lang="sr-Latn-RS" i="1"/>
                                <m:t>𝑗</m:t>
                              </m:r>
                              <m:r>
                                <a:rPr lang="sr-Latn-RS" i="1"/>
                                <m:t> </m:t>
                              </m:r>
                              <m:r>
                                <a:rPr lang="sr-Latn-RS" i="1"/>
                                <m:t>𝑖𝑙𝑖</m:t>
                              </m:r>
                              <m:r>
                                <a:rPr lang="sr-Latn-RS" i="1"/>
                                <m:t> </m:t>
                              </m:r>
                              <m:r>
                                <a:rPr lang="sr-Latn-RS" i="1"/>
                                <m:t>𝑟</m:t>
                              </m:r>
                              <m:r>
                                <a:rPr lang="sr-Latn-RS" i="1"/>
                                <m:t>&lt;</m:t>
                              </m:r>
                              <m:r>
                                <a:rPr lang="sr-Latn-RS" i="1"/>
                                <m:t>𝑝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001" i="1"/>
                                  </m:ctrlPr>
                                </m:sSubPr>
                                <m:e>
                                  <m:r>
                                    <a:rPr lang="sr-Latn-RS" i="1"/>
                                    <m:t>𝑥</m:t>
                                  </m:r>
                                </m:e>
                                <m:sub>
                                  <m:r>
                                    <a:rPr lang="sr-Latn-RS" i="1"/>
                                    <m:t>𝑖</m:t>
                                  </m:r>
                                </m:sub>
                              </m:sSub>
                              <m:r>
                                <a:rPr lang="sr-Latn-RS" i="1"/>
                                <m:t>, </m:t>
                              </m:r>
                              <m:r>
                                <a:rPr lang="sr-Latn-RS" i="1"/>
                                <m:t>𝑖𝑛𝑎</m:t>
                              </m:r>
                              <m:r>
                                <a:rPr lang="sr-Latn-RS" i="1"/>
                                <m:t>č</m:t>
                              </m:r>
                              <m:r>
                                <a:rPr lang="sr-Latn-RS" i="1"/>
                                <m:t>𝑒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sr-Latn-RS" dirty="0"/>
              </a:p>
              <a:p>
                <a:r>
                  <a:rPr lang="sr-Latn-RS" dirty="0"/>
                  <a:t>Preporučene vrednosti omega su od 1/</a:t>
                </a:r>
                <a:r>
                  <a:rPr lang="sr-Latn-RS" dirty="0" err="1"/>
                  <a:t>npop</a:t>
                </a:r>
                <a:r>
                  <a:rPr lang="sr-Latn-RS" dirty="0"/>
                  <a:t> do 1.2, a za p od 0 do 0.1</a:t>
                </a:r>
                <a:endParaRPr lang="en-00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A5D1F5-2A37-F14E-C703-01C4327C4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580"/>
                </a:stretch>
              </a:blipFill>
            </p:spPr>
            <p:txBody>
              <a:bodyPr/>
              <a:lstStyle/>
              <a:p>
                <a:r>
                  <a:rPr lang="en-001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5625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EDFA7-9531-E1DF-E456-C024581CE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Druge varijante DE</a:t>
            </a:r>
            <a:endParaRPr lang="en-00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43B41-9782-EDDD-3937-1FECBE3B92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sr-Latn-RS" dirty="0"/>
                  <a:t>Uvodi se notacija DE/x/y/z</a:t>
                </a:r>
              </a:p>
              <a:p>
                <a:pPr lvl="1"/>
                <a:r>
                  <a:rPr lang="sr-Latn-RS" i="1" dirty="0"/>
                  <a:t>x</a:t>
                </a:r>
                <a:r>
                  <a:rPr lang="sr-Latn-RS" dirty="0"/>
                  <a:t> - način izbora jedinke koja će biti mutirana</a:t>
                </a:r>
              </a:p>
              <a:p>
                <a:pPr lvl="1"/>
                <a:r>
                  <a:rPr lang="sr-Latn-RS" i="1" dirty="0"/>
                  <a:t>y</a:t>
                </a:r>
                <a:r>
                  <a:rPr lang="sr-Latn-RS" dirty="0"/>
                  <a:t> - broj razlika jedinki koje učestvuju u mutaciji</a:t>
                </a:r>
              </a:p>
              <a:p>
                <a:pPr lvl="1"/>
                <a:r>
                  <a:rPr lang="sr-Latn-RS" i="1" dirty="0"/>
                  <a:t>z</a:t>
                </a:r>
                <a:r>
                  <a:rPr lang="sr-Latn-RS" dirty="0"/>
                  <a:t> - krosover shemu</a:t>
                </a:r>
              </a:p>
              <a:p>
                <a:r>
                  <a:rPr lang="sr-Latn-RS" dirty="0"/>
                  <a:t>Osnovna strategija je DE/</a:t>
                </a:r>
                <a:r>
                  <a:rPr lang="sr-Latn-RS" dirty="0" err="1"/>
                  <a:t>rand</a:t>
                </a:r>
                <a:r>
                  <a:rPr lang="sr-Latn-RS" dirty="0"/>
                  <a:t>/1/</a:t>
                </a:r>
                <a:r>
                  <a:rPr lang="sr-Latn-RS" dirty="0" err="1"/>
                  <a:t>bin</a:t>
                </a:r>
                <a:endParaRPr lang="sr-Latn-RS" dirty="0"/>
              </a:p>
              <a:p>
                <a:r>
                  <a:rPr lang="sr-Latn-RS" dirty="0"/>
                  <a:t>Popularna strategija DE/</a:t>
                </a:r>
                <a:r>
                  <a:rPr lang="sr-Latn-RS" dirty="0" err="1"/>
                  <a:t>best</a:t>
                </a:r>
                <a:r>
                  <a:rPr lang="sr-Latn-RS" dirty="0"/>
                  <a:t>/2/</a:t>
                </a:r>
                <a:r>
                  <a:rPr lang="sr-Latn-RS" dirty="0" err="1"/>
                  <a:t>bin</a:t>
                </a:r>
                <a:endParaRPr lang="sr-Latn-R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i="1"/>
                        <m:t>𝑧</m:t>
                      </m:r>
                      <m:r>
                        <a:rPr lang="sr-Latn-RS" i="1"/>
                        <m:t>=</m:t>
                      </m:r>
                      <m:r>
                        <a:rPr lang="sr-Latn-RS" i="1"/>
                        <m:t>𝑏𝑒𝑠𝑡</m:t>
                      </m:r>
                      <m:r>
                        <a:rPr lang="sr-Latn-RS" i="1"/>
                        <m:t>+ </m:t>
                      </m:r>
                      <m:r>
                        <a:rPr lang="sr-Latn-RS" i="1"/>
                        <m:t>𝜆</m:t>
                      </m:r>
                      <m:r>
                        <a:rPr lang="sr-Latn-RS" i="1"/>
                        <m:t>∙</m:t>
                      </m:r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sr-Latn-RS" i="1"/>
                            <m:t>𝑎</m:t>
                          </m:r>
                          <m:r>
                            <a:rPr lang="sr-Latn-RS" i="1"/>
                            <m:t>−</m:t>
                          </m:r>
                          <m:r>
                            <a:rPr lang="sr-Latn-RS" i="1"/>
                            <m:t>𝑏</m:t>
                          </m:r>
                        </m:e>
                      </m:d>
                      <m:r>
                        <a:rPr lang="sr-Latn-RS" i="1"/>
                        <m:t>+</m:t>
                      </m:r>
                      <m:r>
                        <a:rPr lang="sr-Latn-RS" i="1"/>
                        <m:t>𝜔</m:t>
                      </m:r>
                      <m:r>
                        <a:rPr lang="sr-Latn-RS" i="1"/>
                        <m:t>∙</m:t>
                      </m:r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sr-Latn-RS" i="1"/>
                            <m:t>𝑐</m:t>
                          </m:r>
                          <m:r>
                            <a:rPr lang="sr-Latn-RS" i="1"/>
                            <m:t>−</m:t>
                          </m:r>
                          <m:r>
                            <a:rPr lang="sr-Latn-RS" i="1"/>
                            <m:t>𝑑</m:t>
                          </m:r>
                        </m:e>
                      </m:d>
                    </m:oMath>
                  </m:oMathPara>
                </a14:m>
                <a:endParaRPr lang="sr-Latn-RS" dirty="0"/>
              </a:p>
              <a:p>
                <a:r>
                  <a:rPr lang="sr-Latn-RS" dirty="0"/>
                  <a:t>Za velike populacije poboljšava diverzitet.</a:t>
                </a:r>
                <a:endParaRPr lang="en-00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43B41-9782-EDDD-3937-1FECBE3B92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001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3301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D413E-DD90-EF33-F833-4C52A8125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Stohastička diferencijalna evolucija (SDE)</a:t>
            </a:r>
            <a:endParaRPr lang="en-00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55EF37-1966-2410-DFC6-05BF9271D3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sr-Latn-RS" dirty="0" err="1"/>
                  <a:t>Samoadaptivna</a:t>
                </a:r>
                <a:r>
                  <a:rPr lang="sr-Latn-RS" dirty="0"/>
                  <a:t> modifikacija diferencijalne evolucije</a:t>
                </a:r>
              </a:p>
              <a:p>
                <a:r>
                  <a:rPr lang="sr-Latn-RS" dirty="0"/>
                  <a:t>Za svaku jedinku u populaciji generišemo kontrolne parametre.</a:t>
                </a:r>
              </a:p>
              <a:p>
                <a:r>
                  <a:rPr lang="sr-Latn-RS" dirty="0"/>
                  <a:t>Faktor mutacije inicijalno generiše iz </a:t>
                </a:r>
                <a:r>
                  <a:rPr lang="sr-Latn-RS" i="1" dirty="0"/>
                  <a:t>N(0,5, 0,15)</a:t>
                </a:r>
                <a:r>
                  <a:rPr lang="sr-Latn-RS" dirty="0"/>
                  <a:t>, a zatim po iteracijama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i="1"/>
                        <m:t>𝜔</m:t>
                      </m:r>
                      <m:r>
                        <a:rPr lang="sr-Latn-RS" i="1"/>
                        <m:t>= </m:t>
                      </m:r>
                      <m:sSub>
                        <m:sSubPr>
                          <m:ctrlPr>
                            <a:rPr lang="en-001" i="1"/>
                          </m:ctrlPr>
                        </m:sSubPr>
                        <m:e>
                          <m:r>
                            <a:rPr lang="sr-Latn-RS" i="1"/>
                            <m:t>𝜔</m:t>
                          </m:r>
                        </m:e>
                        <m:sub>
                          <m:r>
                            <a:rPr lang="sr-Latn-RS" i="1"/>
                            <m:t>1</m:t>
                          </m:r>
                        </m:sub>
                      </m:sSub>
                      <m:r>
                        <a:rPr lang="sr-Latn-RS" i="1"/>
                        <m:t>+</m:t>
                      </m:r>
                      <m:r>
                        <a:rPr lang="sr-Latn-RS" i="1"/>
                        <m:t>𝒩</m:t>
                      </m:r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sr-Latn-RS" i="1"/>
                            <m:t>0, 0.5</m:t>
                          </m:r>
                        </m:e>
                      </m:d>
                      <m:r>
                        <a:rPr lang="sr-Latn-RS" i="1"/>
                        <m:t>∙ </m:t>
                      </m:r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sSub>
                            <m:sSubPr>
                              <m:ctrlPr>
                                <a:rPr lang="en-001" i="1"/>
                              </m:ctrlPr>
                            </m:sSubPr>
                            <m:e>
                              <m:r>
                                <a:rPr lang="sr-Latn-RS" i="1"/>
                                <m:t>𝜔</m:t>
                              </m:r>
                            </m:e>
                            <m:sub>
                              <m:r>
                                <a:rPr lang="sr-Latn-RS" i="1"/>
                                <m:t>2</m:t>
                              </m:r>
                            </m:sub>
                          </m:sSub>
                          <m:r>
                            <a:rPr lang="sr-Latn-RS" i="1"/>
                            <m:t>−</m:t>
                          </m:r>
                          <m:sSub>
                            <m:sSubPr>
                              <m:ctrlPr>
                                <a:rPr lang="en-001" i="1"/>
                              </m:ctrlPr>
                            </m:sSubPr>
                            <m:e>
                              <m:r>
                                <a:rPr lang="sr-Latn-RS" i="1"/>
                                <m:t>𝜔</m:t>
                              </m:r>
                            </m:e>
                            <m:sub>
                              <m:r>
                                <a:rPr lang="sr-Latn-RS" i="1"/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001" dirty="0"/>
              </a:p>
              <a:p>
                <a:r>
                  <a:rPr lang="sr-Latn-RS" dirty="0"/>
                  <a:t>Umesto parametra p koristimo normalnu raspodelu, tako da</a:t>
                </a:r>
              </a:p>
              <a:p>
                <a:pPr marL="0" indent="0">
                  <a:buNone/>
                </a:pPr>
                <a:r>
                  <a:rPr lang="sr-Latn-RS" dirty="0"/>
                  <a:t>			r &lt; N(0,5, 0,15)</a:t>
                </a:r>
              </a:p>
              <a:p>
                <a:r>
                  <a:rPr lang="sr-Latn-RS" dirty="0"/>
                  <a:t>Osnovna modifikacija se odnosi na DE/</a:t>
                </a:r>
                <a:r>
                  <a:rPr lang="sr-Latn-RS" dirty="0" err="1"/>
                  <a:t>rand</a:t>
                </a:r>
                <a:r>
                  <a:rPr lang="sr-Latn-RS" dirty="0"/>
                  <a:t>/1/</a:t>
                </a:r>
                <a:r>
                  <a:rPr lang="sr-Latn-RS" dirty="0" err="1"/>
                  <a:t>bin</a:t>
                </a:r>
                <a:r>
                  <a:rPr lang="sr-Latn-RS" dirty="0"/>
                  <a:t>, ali može se adaptirati i za druge strategije</a:t>
                </a:r>
                <a:endParaRPr lang="en-00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55EF37-1966-2410-DFC6-05BF9271D3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40"/>
                </a:stretch>
              </a:blipFill>
            </p:spPr>
            <p:txBody>
              <a:bodyPr/>
              <a:lstStyle/>
              <a:p>
                <a:r>
                  <a:rPr lang="en-001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200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C1741-92C4-B3A7-AFA0-9455B4C7A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Ograničenja domena pretrage</a:t>
            </a:r>
            <a:endParaRPr lang="en-00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366EA6-ABB5-199B-1276-9E730D7BE0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sr-Latn-RS" dirty="0"/>
                  <a:t>Čvrsta ograničenja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001" sz="2000" i="1"/>
                          </m:ctrlPr>
                        </m:sSubPr>
                        <m:e>
                          <m:r>
                            <a:rPr lang="en-US" sz="2000" i="1"/>
                            <m:t>𝑥</m:t>
                          </m:r>
                          <m:r>
                            <a:rPr lang="en-US" sz="2000" i="1"/>
                            <m:t>′</m:t>
                          </m:r>
                        </m:e>
                        <m:sub>
                          <m:r>
                            <a:rPr lang="en-US" sz="2000" i="1"/>
                            <m:t>𝑖</m:t>
                          </m:r>
                        </m:sub>
                      </m:sSub>
                      <m:r>
                        <a:rPr lang="en-US" sz="2000" i="1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001" sz="2000" i="1"/>
                          </m:ctrlPr>
                        </m:dPr>
                        <m:e>
                          <m:eqArr>
                            <m:eqArrPr>
                              <m:ctrlPr>
                                <a:rPr lang="en-001" sz="2000" i="1"/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r>
                                    <a:rPr lang="en-US" sz="2000" i="1"/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  <m:r>
                                    <a:rPr lang="en-US" sz="2000" i="1"/>
                                    <m:t>, </m:t>
                                  </m:r>
                                  <m:r>
                                    <a:rPr lang="en-US" sz="2000" i="1"/>
                                    <m:t>𝑙𝑜𝑤𝑒𝑟</m:t>
                                  </m:r>
                                </m:sub>
                              </m:sSub>
                              <m:r>
                                <a:rPr lang="en-US" sz="2000" i="1"/>
                                <m:t>+</m:t>
                              </m:r>
                              <m:r>
                                <a:rPr lang="en-US" sz="2000" i="1"/>
                                <m:t>𝑟𝑎𝑛𝑑</m:t>
                              </m:r>
                              <m:r>
                                <a:rPr lang="en-US" sz="2000" i="1"/>
                                <m:t>∙</m:t>
                              </m:r>
                              <m:d>
                                <m:dPr>
                                  <m:ctrlPr>
                                    <a:rPr lang="en-001" sz="2000" i="1"/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001" sz="2000" i="1"/>
                                      </m:ctrlPr>
                                    </m:sSubPr>
                                    <m:e>
                                      <m:r>
                                        <a:rPr lang="en-US" sz="2000" i="1"/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/>
                                        <m:t>𝑖</m:t>
                                      </m:r>
                                      <m:r>
                                        <a:rPr lang="en-US" sz="2000" i="1"/>
                                        <m:t>,</m:t>
                                      </m:r>
                                      <m:r>
                                        <a:rPr lang="en-US" sz="2000" i="1"/>
                                        <m:t>𝑢𝑝𝑝𝑒𝑟</m:t>
                                      </m:r>
                                    </m:sub>
                                  </m:sSub>
                                  <m:r>
                                    <a:rPr lang="en-US" sz="2000" i="1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001" sz="2000" i="1"/>
                                      </m:ctrlPr>
                                    </m:sSubPr>
                                    <m:e>
                                      <m:r>
                                        <a:rPr lang="en-US" sz="2000" i="1"/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/>
                                        <m:t>𝑖</m:t>
                                      </m:r>
                                      <m:r>
                                        <a:rPr lang="en-US" sz="2000" i="1"/>
                                        <m:t>,</m:t>
                                      </m:r>
                                      <m:r>
                                        <a:rPr lang="en-US" sz="2000" i="1"/>
                                        <m:t>𝑙𝑜𝑤𝑒𝑟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/>
                                <m:t>, </m:t>
                              </m:r>
                              <m:r>
                                <a:rPr lang="en-US" sz="2000" i="1"/>
                                <m:t>𝑎𝑘𝑜</m:t>
                              </m:r>
                              <m:r>
                                <a:rPr lang="en-US" sz="2000" i="1"/>
                                <m:t> </m:t>
                              </m:r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001" sz="2000" i="1"/>
                                      </m:ctrlPr>
                                    </m:sSupPr>
                                    <m:e>
                                      <m:r>
                                        <a:rPr lang="en-US" sz="2000" i="1"/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000" i="1"/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</m:sub>
                              </m:sSub>
                              <m:r>
                                <a:rPr lang="en-US" sz="2000" i="1"/>
                                <m:t>&lt;</m:t>
                              </m:r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r>
                                    <a:rPr lang="en-US" sz="2000" i="1"/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  <m:r>
                                    <a:rPr lang="en-US" sz="2000" i="1"/>
                                    <m:t>,</m:t>
                                  </m:r>
                                  <m:r>
                                    <a:rPr lang="en-US" sz="2000" i="1"/>
                                    <m:t>𝑙𝑜𝑤𝑒𝑟</m:t>
                                  </m:r>
                                </m:sub>
                              </m:sSub>
                              <m:r>
                                <a:rPr lang="en-US" sz="2000" i="1"/>
                                <m:t> </m:t>
                              </m:r>
                              <m:r>
                                <a:rPr lang="en-US" sz="2000" i="1"/>
                                <m:t>𝑖𝑙𝑖</m:t>
                              </m:r>
                              <m:r>
                                <a:rPr lang="en-US" sz="2000" i="1"/>
                                <m:t> </m:t>
                              </m:r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r>
                                    <a:rPr lang="en-US" sz="2000" i="1"/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  <m:r>
                                    <a:rPr lang="en-US" sz="2000" i="1"/>
                                    <m:t>,</m:t>
                                  </m:r>
                                  <m:r>
                                    <a:rPr lang="en-US" sz="2000" i="1"/>
                                    <m:t>𝑢𝑝𝑝𝑒𝑟</m:t>
                                  </m:r>
                                </m:sub>
                              </m:sSub>
                              <m:r>
                                <a:rPr lang="en-US" sz="2000" i="1"/>
                                <m:t>&lt; </m:t>
                              </m:r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001" sz="2000" i="1"/>
                                      </m:ctrlPr>
                                    </m:sSupPr>
                                    <m:e>
                                      <m:r>
                                        <a:rPr lang="en-US" sz="2000" i="1"/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000" i="1"/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001" sz="2000" i="1"/>
                                  </m:ctrlPr>
                                </m:sSubPr>
                                <m:e>
                                  <m:r>
                                    <a:rPr lang="en-US" sz="2000" i="1"/>
                                    <m:t>𝑥</m:t>
                                  </m:r>
                                  <m:r>
                                    <a:rPr lang="en-US" sz="2000" i="1"/>
                                    <m:t>′</m:t>
                                  </m:r>
                                </m:e>
                                <m:sub>
                                  <m:r>
                                    <a:rPr lang="en-US" sz="2000" i="1"/>
                                    <m:t>𝑖</m:t>
                                  </m:r>
                                </m:sub>
                              </m:sSub>
                              <m:r>
                                <a:rPr lang="en-US" sz="2000" i="1"/>
                                <m:t>, </m:t>
                              </m:r>
                              <m:r>
                                <a:rPr lang="en-US" sz="2000" i="1"/>
                                <m:t>𝑖𝑛𝑎</m:t>
                              </m:r>
                              <m:r>
                                <a:rPr lang="sr-Latn-RS" sz="2000" i="1"/>
                                <m:t>č</m:t>
                              </m:r>
                              <m:r>
                                <a:rPr lang="sr-Latn-RS" sz="2000" i="1"/>
                                <m:t>𝑒</m:t>
                              </m:r>
                            </m:e>
                          </m:eqArr>
                        </m:e>
                      </m:d>
                      <m:r>
                        <a:rPr lang="en-US" sz="2000" i="1"/>
                        <m:t>,</m:t>
                      </m:r>
                      <m:r>
                        <a:rPr lang="en-US" sz="2000" i="1"/>
                        <m:t>𝑖</m:t>
                      </m:r>
                      <m:r>
                        <a:rPr lang="en-US" sz="2000" i="1"/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001" sz="2000" i="1"/>
                          </m:ctrlPr>
                        </m:dPr>
                        <m:e>
                          <m:r>
                            <a:rPr lang="en-US" sz="2000" i="1"/>
                            <m:t>1, </m:t>
                          </m:r>
                          <m:sSub>
                            <m:sSubPr>
                              <m:ctrlPr>
                                <a:rPr lang="en-001" sz="2000" i="1"/>
                              </m:ctrlPr>
                            </m:sSubPr>
                            <m:e>
                              <m:r>
                                <a:rPr lang="en-US" sz="2000" i="1"/>
                                <m:t>𝑛</m:t>
                              </m:r>
                            </m:e>
                            <m:sub>
                              <m:r>
                                <a:rPr lang="en-US" sz="2000" i="1"/>
                                <m:t>𝑝𝑎𝑟𝑎𝑚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sr-Latn-RS" dirty="0"/>
              </a:p>
              <a:p>
                <a:r>
                  <a:rPr lang="sr-Latn-RS" dirty="0"/>
                  <a:t>Meka ograničenja ne isključuju jedinke koje </a:t>
                </a:r>
                <a:r>
                  <a:rPr lang="sr-Latn-RS" dirty="0" err="1"/>
                  <a:t>izažu</a:t>
                </a:r>
                <a:r>
                  <a:rPr lang="sr-Latn-RS" dirty="0"/>
                  <a:t> iz granica, već ih </a:t>
                </a:r>
                <a:r>
                  <a:rPr lang="sr-Latn-RS" dirty="0" err="1"/>
                  <a:t>penalizuju</a:t>
                </a:r>
                <a:r>
                  <a:rPr lang="sr-Latn-RS" dirty="0"/>
                  <a:t> kroz funkcije ograničenja</a:t>
                </a:r>
              </a:p>
              <a:p>
                <a:r>
                  <a:rPr lang="sr-Latn-RS" dirty="0"/>
                  <a:t>Funkcija cene objedinjuje ciljnu funkciju i funkcije ograničenja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001" i="1"/>
                          </m:ctrlPr>
                        </m:sSubPr>
                        <m:e>
                          <m:r>
                            <a:rPr lang="en-US" i="1"/>
                            <m:t>𝑓</m:t>
                          </m:r>
                        </m:e>
                        <m:sub>
                          <m:r>
                            <a:rPr lang="en-US" i="1"/>
                            <m:t>𝑐𝑜𝑠𝑡</m:t>
                          </m:r>
                        </m:sub>
                      </m:sSub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en-US" i="1"/>
                            <m:t>𝑥</m:t>
                          </m:r>
                        </m:e>
                      </m:d>
                      <m:r>
                        <a:rPr lang="en-US" i="1"/>
                        <m:t>=</m:t>
                      </m:r>
                      <m:sSub>
                        <m:sSubPr>
                          <m:ctrlPr>
                            <a:rPr lang="en-001" i="1"/>
                          </m:ctrlPr>
                        </m:sSubPr>
                        <m:e>
                          <m:r>
                            <a:rPr lang="en-US" i="1"/>
                            <m:t>𝑓</m:t>
                          </m:r>
                        </m:e>
                        <m:sub>
                          <m:r>
                            <a:rPr lang="en-US" i="1"/>
                            <m:t>𝑜𝑏𝑗𝑒𝑐𝑡𝑖𝑣𝑒</m:t>
                          </m:r>
                        </m:sub>
                      </m:sSub>
                      <m:d>
                        <m:dPr>
                          <m:ctrlPr>
                            <a:rPr lang="en-001" i="1"/>
                          </m:ctrlPr>
                        </m:dPr>
                        <m:e>
                          <m:r>
                            <a:rPr lang="en-US" i="1"/>
                            <m:t>𝑥</m:t>
                          </m:r>
                        </m:e>
                      </m:d>
                      <m:r>
                        <a:rPr lang="en-US" i="1"/>
                        <m:t>+ 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001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 i="1"/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001" i="1"/>
                              </m:ctrlPr>
                            </m:sSubPr>
                            <m:e>
                              <m:r>
                                <a:rPr lang="en-US" i="1"/>
                                <m:t>𝑛</m:t>
                              </m:r>
                            </m:e>
                            <m:sub>
                              <m:r>
                                <a:rPr lang="en-US" i="1"/>
                                <m:t>𝑝𝑎𝑟𝑎𝑚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001" i="1"/>
                              </m:ctrlPr>
                            </m:sSubPr>
                            <m:e>
                              <m:r>
                                <a:rPr lang="en-US" i="1"/>
                                <m:t>𝑔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r>
                            <a:rPr lang="en-US" i="1"/>
                            <m:t>(</m:t>
                          </m:r>
                          <m:r>
                            <a:rPr lang="en-US" i="1"/>
                            <m:t>𝑥</m:t>
                          </m:r>
                          <m:r>
                            <a:rPr lang="en-US" i="1"/>
                            <m:t>)</m:t>
                          </m:r>
                        </m:e>
                      </m:nary>
                    </m:oMath>
                  </m:oMathPara>
                </a14:m>
                <a:endParaRPr lang="en-001" dirty="0"/>
              </a:p>
              <a:p>
                <a:endParaRPr lang="en-00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366EA6-ABB5-199B-1276-9E730D7BE0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001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4219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9B4B-A556-9FC7-CBA4-617CDB6BE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Uslovi zaustavljanja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D8ED74-201E-F4C0-C8E5-04E6C8227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1377755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64D89-CC17-97CA-59FA-3C757EF73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Test funkcije</a:t>
            </a:r>
            <a:endParaRPr lang="en-00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17F4BB-FF39-7D2C-1D6B-42AFD6ECC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sr-Latn-RS" dirty="0"/>
                  <a:t>Korišćeno 10 funkcija, sa </a:t>
                </a:r>
                <a:r>
                  <a:rPr lang="sr-Latn-RS" dirty="0" err="1"/>
                  <a:t>osmodimenzionim</a:t>
                </a:r>
                <a:r>
                  <a:rPr lang="sr-Latn-RS" dirty="0"/>
                  <a:t> argumentima</a:t>
                </a:r>
              </a:p>
              <a:p>
                <a:r>
                  <a:rPr lang="sr-Latn-RS" dirty="0"/>
                  <a:t>Primer: Šekelova funkcija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001" sz="2000" i="1"/>
                        <m:t>𝑓</m:t>
                      </m:r>
                      <m:d>
                        <m:dPr>
                          <m:ctrlPr>
                            <a:rPr lang="en-001" sz="2000" i="1"/>
                          </m:ctrlPr>
                        </m:dPr>
                        <m:e>
                          <m:r>
                            <a:rPr lang="en-001" sz="2000" i="1"/>
                            <m:t>𝑋</m:t>
                          </m:r>
                        </m:e>
                      </m:d>
                      <m:r>
                        <a:rPr lang="en-001" sz="2000" i="1"/>
                        <m:t>= 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001" sz="2000" i="1"/>
                          </m:ctrlPr>
                        </m:naryPr>
                        <m:sub>
                          <m:r>
                            <a:rPr lang="en-001" sz="2000" i="1"/>
                            <m:t>𝑖</m:t>
                          </m:r>
                          <m:r>
                            <a:rPr lang="en-001" sz="2000" i="1"/>
                            <m:t>=1</m:t>
                          </m:r>
                        </m:sub>
                        <m:sup>
                          <m:r>
                            <a:rPr lang="en-001" sz="2000" i="1"/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001" sz="2000" i="1"/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001" sz="2000" i="1"/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001" sz="2000" i="1"/>
                                      </m:ctrlPr>
                                    </m:sSubPr>
                                    <m:e>
                                      <m:r>
                                        <a:rPr lang="en-001" sz="2000" i="1"/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001" sz="2000" i="1"/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001" sz="2000" i="1"/>
                                    <m:t>+</m:t>
                                  </m:r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001" sz="2000" i="1"/>
                                      </m:ctrlPr>
                                    </m:naryPr>
                                    <m:sub>
                                      <m:r>
                                        <a:rPr lang="en-001" sz="2000" i="1"/>
                                        <m:t>𝑗</m:t>
                                      </m:r>
                                      <m:r>
                                        <a:rPr lang="en-001" sz="2000" i="1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001" sz="2000" i="1"/>
                                        <m:t>𝑛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001" sz="2000" i="1"/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001" sz="2000" i="1"/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001" sz="2000" i="1"/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001" sz="2000" i="1"/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001" sz="2000" i="1"/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001" sz="2000" i="1"/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001" sz="2000" i="1"/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001" sz="2000" i="1"/>
                                                    <m:t>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001" sz="2000" i="1"/>
                                                    <m:t>𝑗𝑖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001" sz="2000" i="1"/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en-001" sz="2000" i="1"/>
                                <m:t>−1</m:t>
                              </m:r>
                            </m:sup>
                          </m:sSup>
                        </m:e>
                      </m:nary>
                      <m:r>
                        <a:rPr lang="en-001" sz="2000" i="1"/>
                        <m:t>, </m:t>
                      </m:r>
                      <m:r>
                        <a:rPr lang="en-US" sz="2000" i="1"/>
                        <m:t>−∞≤</m:t>
                      </m:r>
                      <m:sSub>
                        <m:sSubPr>
                          <m:ctrlPr>
                            <a:rPr lang="en-001" sz="2000" i="1"/>
                          </m:ctrlPr>
                        </m:sSubPr>
                        <m:e>
                          <m:r>
                            <a:rPr lang="en-US" sz="2000" i="1"/>
                            <m:t>𝑥</m:t>
                          </m:r>
                        </m:e>
                        <m:sub>
                          <m:r>
                            <a:rPr lang="en-US" sz="2000" i="1"/>
                            <m:t>𝑖</m:t>
                          </m:r>
                        </m:sub>
                      </m:sSub>
                      <m:r>
                        <a:rPr lang="en-US" sz="2000" i="1"/>
                        <m:t>≤∞</m:t>
                      </m:r>
                    </m:oMath>
                  </m:oMathPara>
                </a14:m>
                <a:endParaRPr lang="en-001" sz="2000" dirty="0"/>
              </a:p>
              <a:p>
                <a:endParaRPr lang="sr-Latn-R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17F4BB-FF39-7D2C-1D6B-42AFD6ECC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001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125C5A-92C4-0C37-EB9D-45347C2A74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975" y="3740409"/>
            <a:ext cx="4044821" cy="30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437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78EB6-F673-9082-5BD0-B50DA10ED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Šekelova funkcija: Istorija najboljih ocena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2FE886-1122-61CF-F26D-786DBF568A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885" y="1825625"/>
            <a:ext cx="7252230" cy="4351338"/>
          </a:xfrm>
        </p:spPr>
      </p:pic>
    </p:spTree>
    <p:extLst>
      <p:ext uri="{BB962C8B-B14F-4D97-AF65-F5344CB8AC3E}">
        <p14:creationId xmlns:p14="http://schemas.microsoft.com/office/powerpoint/2010/main" val="2720651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C2B8-A0C7-BE0E-C068-541B42503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Šekelova funkcija: Istorija </a:t>
            </a:r>
            <a:r>
              <a:rPr lang="sr-Latn-RS" dirty="0" err="1"/>
              <a:t>dverziteta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0DF561-8EBE-B65E-F5E6-627458EF68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885" y="1825625"/>
            <a:ext cx="7252230" cy="4351338"/>
          </a:xfrm>
        </p:spPr>
      </p:pic>
    </p:spTree>
    <p:extLst>
      <p:ext uri="{BB962C8B-B14F-4D97-AF65-F5344CB8AC3E}">
        <p14:creationId xmlns:p14="http://schemas.microsoft.com/office/powerpoint/2010/main" val="489436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950A4-EDA4-74E4-9845-DD7ACC36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Zaključak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E592C-EB50-99CB-42A8-9D76B48BD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Diferencijalna evolucija je postigla bolje ili slične rezultate kao algoritmi iz biblioteka </a:t>
            </a:r>
            <a:r>
              <a:rPr lang="sr-Latn-RS" dirty="0" err="1"/>
              <a:t>scipy.optimize</a:t>
            </a:r>
            <a:r>
              <a:rPr lang="sr-Latn-RS" dirty="0"/>
              <a:t> i </a:t>
            </a:r>
            <a:r>
              <a:rPr lang="sr-Latn-RS" dirty="0" err="1"/>
              <a:t>mistic</a:t>
            </a:r>
            <a:endParaRPr lang="sr-Latn-RS" dirty="0"/>
          </a:p>
          <a:p>
            <a:r>
              <a:rPr lang="sr-Latn-RS" dirty="0" err="1"/>
              <a:t>Samoadaptivni</a:t>
            </a:r>
            <a:r>
              <a:rPr lang="sr-Latn-RS" dirty="0"/>
              <a:t> algoritmi sporije konvergiraju, ali održavaju veću </a:t>
            </a:r>
            <a:r>
              <a:rPr lang="sr-Latn-RS"/>
              <a:t>raznolikost populacije</a:t>
            </a:r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1023588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434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Diferencijalna evolucija</vt:lpstr>
      <vt:lpstr>Uvod</vt:lpstr>
      <vt:lpstr>Algoritam</vt:lpstr>
      <vt:lpstr>Konstrukcija jedinke i izbor parametara</vt:lpstr>
      <vt:lpstr>Druge varijante DE</vt:lpstr>
      <vt:lpstr>Stohastička diferencijalna evolucija (SDE)</vt:lpstr>
      <vt:lpstr>Ograničenja domena pretrage</vt:lpstr>
      <vt:lpstr>Uslovi zaustavljanja</vt:lpstr>
      <vt:lpstr>Test funkcije</vt:lpstr>
      <vt:lpstr>Šekelova funkcija: Istorija najboljih ocena</vt:lpstr>
      <vt:lpstr>Šekelova funkcija: Istorija dverziteta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SOLIM</dc:creator>
  <cp:lastModifiedBy>SOLIM</cp:lastModifiedBy>
  <cp:revision>10</cp:revision>
  <dcterms:created xsi:type="dcterms:W3CDTF">2025-10-28T12:51:05Z</dcterms:created>
  <dcterms:modified xsi:type="dcterms:W3CDTF">2025-10-29T12:59:23Z</dcterms:modified>
</cp:coreProperties>
</file>